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0" cy="73152"/>
          </a:xfrm>
          <a:prstGeom prst="rect">
            <a:avLst/>
          </a:prstGeom>
          <a:solidFill>
            <a:srgbClr val="E5A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dirty="0" err="1"/>
              <a:t>GridWise</a:t>
            </a:r>
            <a:endParaRPr dirty="0"/>
          </a:p>
          <a:p>
            <a:pPr>
              <a:defRPr sz="2600" b="1">
                <a:solidFill>
                  <a:srgbClr val="149E9A"/>
                </a:solidFill>
              </a:defRPr>
            </a:pPr>
            <a:r>
              <a:rPr dirty="0"/>
              <a:t>LLM-Assisted Smart Campus Energy Optimization Engine</a:t>
            </a:r>
          </a:p>
          <a:p>
            <a:pPr>
              <a:defRPr sz="1500">
                <a:solidFill>
                  <a:srgbClr val="93A1A6"/>
                </a:solidFill>
              </a:defRPr>
            </a:pPr>
            <a:r>
              <a:rPr dirty="0"/>
              <a:t>Bridging Natural Language Operator Directives with Deterministic</a:t>
            </a:r>
            <a:r>
              <a:rPr lang="en-US" dirty="0"/>
              <a:t> </a:t>
            </a:r>
            <a:r>
              <a:rPr dirty="0"/>
              <a:t> Mathematical LP Optimization &amp; Enterprise Cyber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52578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Team: KUET_CODE_AND_CAFFEINE   |   Event: BUP Inter-University Hackathon 2026</a:t>
            </a:r>
          </a:p>
          <a:p>
            <a:pPr>
              <a:defRPr sz="1200">
                <a:solidFill>
                  <a:srgbClr val="93A1A6"/>
                </a:solidFill>
              </a:defRPr>
            </a:pPr>
            <a:r>
              <a:t>Stack: FastAPI · HiGHS LP Solver (SciPy) · Pydantic v2 · Token-Bucket Defense · Reactive Web 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9E9A"/>
                </a:solidFill>
              </a:defRPr>
            </a:pPr>
            <a:r>
              <a:t>GRIDWISE — BUP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F4F3"/>
                </a:solidFill>
              </a:defRPr>
            </a:pPr>
            <a:r>
              <a:t>The Challenge: Campus Energy Dispatch vs. Operator Intent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A93D"/>
                </a:solidFill>
              </a:defRPr>
            </a:pPr>
            <a:r>
              <a:t>The Energy Dilemma</a:t>
            </a:r>
          </a:p>
          <a:p>
            <a:pPr>
              <a:defRPr sz="1300">
                <a:solidFill>
                  <a:srgbClr val="EEF4F3"/>
                </a:solidFill>
              </a:defRPr>
            </a:pPr>
            <a:r>
              <a:t>Campuses face dynamic TOU peak tariffs (up to 34 BDT/kWh) and intermittent solar generation. Battery storage is crucial but degradation and capacity limits require precise scheduling.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9E9A"/>
                </a:solidFill>
              </a:defRPr>
            </a:pPr>
            <a:r>
              <a:t>The Operator Gap</a:t>
            </a:r>
          </a:p>
          <a:p>
            <a:pPr>
              <a:defRPr sz="1300">
                <a:solidFill>
                  <a:srgbClr val="EEF4F3"/>
                </a:solidFill>
              </a:defRPr>
            </a:pPr>
            <a:r>
              <a:t>Operators communicate in ambiguous natural language ('clean panels at noon', 'hold 80 kWh reserve'). Converting these to strict physical constraints manually causes delays and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LLM Pitfalls in Energy</a:t>
            </a:r>
          </a:p>
          <a:p>
            <a:pPr>
              <a:defRPr sz="1300">
                <a:solidFill>
                  <a:srgbClr val="EEF4F3"/>
                </a:solidFill>
              </a:defRPr>
            </a:pPr>
            <a:r>
              <a:t>Raw LLMs hallucinate numbers, violate basic physical energy balance (supply != demand), and are vulnerable to prompt injection attacks if allowed to directly output schedules.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9E9A"/>
                </a:solidFill>
              </a:defRPr>
            </a:pPr>
            <a:r>
              <a:t>GRIDWISE — BUP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F4F3"/>
                </a:solidFill>
              </a:defRPr>
            </a:pPr>
            <a:r>
              <a:t>GridWise Solution: Deterministic Trust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9E9A"/>
                </a:solidFill>
              </a:defRPr>
            </a:pPr>
            <a:r>
              <a:t>1. Zero-Hallucination Pipeline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LLM is strictly confined to interpreting notes into 6 rigid schemas. It NEVER generates raw numerical schedules.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A93D"/>
                </a:solidFill>
              </a:defRPr>
            </a:pPr>
            <a:r>
              <a:t>2. Start-Inclusive / End-Exclusive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Exact physical hour window normalization (e.g., '1 PM to 3 PM' → [13, 14]), ensuring seamless 24h mathematical modeling.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9E9A"/>
                </a:solidFill>
              </a:defRPr>
            </a:pPr>
            <a:r>
              <a:t>3. Deterministic HiGHS Optimization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SciPy HiGHS Linear Programming (LP) solver computes mathematically proven global minimum electricity cost in &lt;50ms.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4. Independent Physics Replay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Every schedule is replayed independently through physics verification (0.01 kWh tolerance) before returning to the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A93D"/>
                </a:solidFill>
              </a:defRPr>
            </a:pPr>
            <a:r>
              <a:t>5. End-of-Day Neutrality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Enforces E[23] == E_initial mandatory constraint, preventing artificial battery draining and ensuring sustainable daily cycling.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9E9A"/>
                </a:solidFill>
              </a:defRPr>
            </a:pPr>
            <a:r>
              <a:t>6. Multi-Layer Cyber Security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Sliding-window token rate limiting, threat quarantine, prompt-injection defense, and circuit breaker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9E9A"/>
                </a:solidFill>
              </a:defRPr>
            </a:pPr>
            <a:r>
              <a:t>GRIDWISE — BUP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F4F3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9E9A"/>
                </a:solidFill>
              </a:defRPr>
            </a:pPr>
            <a:r>
              <a:t>1. Web Frontend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Interactive Console (SVG Energy Flow &amp; Time Scrubber)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137160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A93D"/>
                </a:solidFill>
              </a:defRPr>
            </a:pPr>
            <a:r>
              <a:t>2. Security Middleware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Rate Limiter · Size Limit (1MB) · IP Quarantine · Security Headers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9E9A"/>
                </a:solidFill>
              </a:defRPr>
            </a:pPr>
            <a:r>
              <a:t>3. Request Validation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Strict Pydantic v2 Models (24 Demand/Solar/Tariff arrays + Battery)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00400"/>
            <a:ext cx="5120640" cy="137160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33375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CC71"/>
                </a:solidFill>
              </a:defRPr>
            </a:pPr>
            <a:r>
              <a:t>4. LLM Interpreter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Adversarial Pattern Scanner · Start/End Hours · 6 Directive Schemas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9E9A"/>
                </a:solidFill>
              </a:defRPr>
            </a:pPr>
            <a:r>
              <a:t>5. HiGHS LP Solver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Min Σ(Grid[h] * Tariff[h]) · Hourly Energy Balance · Neutrality E[23]=E0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120640" cy="137160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48920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5A93D"/>
                </a:solidFill>
              </a:defRPr>
            </a:pPr>
            <a:r>
              <a:t>6. Physics Replay Validator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Independent Replay &amp; Recomputed Financial / Physical Totals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9E9A"/>
                </a:solidFill>
              </a:defRPr>
            </a:pPr>
            <a:r>
              <a:t>GRIDWISE — BUP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F4F3"/>
                </a:solidFill>
              </a:defRPr>
            </a:pPr>
            <a:r>
              <a:t>Strict Operator Directives &amp; Semantic Normalization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A93D"/>
                </a:solidFill>
              </a:defRPr>
            </a:pPr>
            <a:r>
              <a:t>1. solar_reduction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Modifies usable solar multiplier factor (0.0 to 1.0).</a:t>
            </a:r>
            <a:br/>
            <a:r>
              <a:t>Example: '80% solar reduction' → factor: 0.2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9E9A"/>
                </a:solidFill>
              </a:defRPr>
            </a:pPr>
            <a:r>
              <a:t>2. minimum_battery_reserve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Enforces stored battery energy floor E[h] &gt;= min_energy.</a:t>
            </a:r>
            <a:br/>
            <a:r>
              <a:t>Example: 'Hold 80 kWh reserve' → min_energy: 80.0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3. no_charge_window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Prohibits battery from charging during specific hours C[h] = 0.</a:t>
            </a:r>
            <a:br/>
            <a:r>
              <a:t>Example: 'No charging from 2-4 PM' → hours: [14, 15]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9E9A"/>
                </a:solidFill>
              </a:defRPr>
            </a:pPr>
            <a:r>
              <a:t>4. no_discharge_window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Prohibits battery from discharging during hours D[h] = 0.</a:t>
            </a:r>
            <a:br/>
            <a:r>
              <a:t>Example: 'Avoid discharge from 6-8 PM' → hours: [18, 19]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A93D"/>
                </a:solidFill>
              </a:defRPr>
            </a:pPr>
            <a:r>
              <a:t>5. max_grid_window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Caps electricity grid import G[h] &lt;= max_grid_kwh.</a:t>
            </a:r>
            <a:br/>
            <a:r>
              <a:t>Example: 'Limit grid intake to 155 kWh' → max_grid: 155.0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93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A1A6"/>
                </a:solidFill>
              </a:defRPr>
            </a:pPr>
            <a:r>
              <a:t>6. no_op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Irrelevant, informational, or distractor notes produce no constraint adjustments (applies = false).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9E9A"/>
                </a:solidFill>
              </a:defRPr>
            </a:pPr>
            <a:r>
              <a:t>GRIDWISE — BUP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F4F3"/>
                </a:solidFill>
              </a:defRPr>
            </a:pPr>
            <a:r>
              <a:t>Mathematical Formulation (HiGHS LP Solver)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9E9A"/>
                </a:solidFill>
              </a:defRPr>
            </a:pPr>
            <a:r>
              <a:t>Objective &amp; Core Dynamics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Primary Objective: Minimize Total Energy Cost</a:t>
            </a:r>
            <a:br/>
            <a:r>
              <a:t>  min Σ (Grid[h] × Tariff[h])  for h = 0..23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Fundamental Hourly Energy Balance:</a:t>
            </a:r>
            <a:br/>
            <a:r>
              <a:t>  Grid[h] + Solar[h] + Discharge[h] = Demand[h] + Charge[h]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Battery State of Charge Transition:</a:t>
            </a:r>
            <a:br/>
            <a:r>
              <a:t>  E[h] = E[h-1] + Charge[h] - Discharge[h]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Mandatory End-of-Day Neutrality:</a:t>
            </a:r>
            <a:br/>
            <a:r>
              <a:t>  E[23] == E_initial (Zero daily degradation/bias)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5A93D"/>
                </a:solidFill>
              </a:defRPr>
            </a:pPr>
            <a:r>
              <a:t>Physical Constraints &amp; Bounds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Solar Curtailment Limit:</a:t>
            </a:r>
            <a:br/>
            <a:r>
              <a:t>  0 &lt;= SolarUsed[h] &lt;= EffectiveSolar[h]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Battery Operating Bounds:</a:t>
            </a:r>
            <a:br/>
            <a:r>
              <a:t>  min_reserve[h] &lt;= E[h] &lt;= capacity_kwh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Charge / Discharge Power Limits:</a:t>
            </a:r>
            <a:br/>
            <a:r>
              <a:t>  0 &lt;= Charge[h] &lt;= max_charge_rate</a:t>
            </a:r>
            <a:br/>
            <a:r>
              <a:t>  0 &lt;= Discharge[h] &lt;= max_discharge_rate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Deterministic Execution:</a:t>
            </a:r>
            <a:br/>
            <a:r>
              <a:t>  Solved using HiGHS Interior-Point / Simplex in &lt;50ms with 10s timeout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9E9A"/>
                </a:solidFill>
              </a:defRPr>
            </a:pPr>
            <a:r>
              <a:t>GRIDWISE — BUP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F4F3"/>
                </a:solidFill>
              </a:defRPr>
            </a:pPr>
            <a:r>
              <a:t>Multi-Layer Web Security &amp; Cyber-Breach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9E9A"/>
                </a:solidFill>
              </a:defRPr>
            </a:pPr>
            <a:r>
              <a:t>Prompt Injection Defense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Regex scanners inspect operator notes for adversarial patterns ('ignore previous instructions', 'eval()', 'reveal keys') and block suspicious input before LLM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A93D"/>
                </a:solidFill>
              </a:defRPr>
            </a:pPr>
            <a:r>
              <a:t>LLM Circuit Breaker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Thread-safe circuit breaker tracks consecutive failures (CLOSED → OPEN → HALF_OPEN), isolating faulty external LLM APIs and preventing cascade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Token-Bucket Rate Limiter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Per-client sliding window rate limiter (60 req/min + burst capacity) prevents denial-of-service and quota exhaustion.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9E9A"/>
                </a:solidFill>
              </a:defRPr>
            </a:pPr>
            <a:r>
              <a:t>Client Quarantine Defense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Threat detector automatically quarantines abusive client IPs for 5 minutes when violation thresholds are breached.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A93D"/>
                </a:solidFill>
              </a:defRPr>
            </a:pPr>
            <a:r>
              <a:t>Sanitized Audit Logging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SOC2-compliant structured JSON logging automatically redacts API keys, passwords, and tokens from all audit trails.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42062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Enterprise HTTP Headers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Injects CSP, HSTS, X-Frame-Options: DENY, X-Content-Type-Options: nosniff, and granular CORS origin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9E9A"/>
                </a:solidFill>
              </a:defRPr>
            </a:pPr>
            <a:r>
              <a:t>GRIDWISE — BUP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F4F3"/>
                </a:solidFill>
              </a:defRPr>
            </a:pPr>
            <a:r>
              <a:t>GridWise Web Console: Modern Operator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9E9A"/>
                </a:solidFill>
              </a:defRPr>
            </a:pPr>
            <a:r>
              <a:t>Dynamic 24h SVG Energy Flow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Real-time animated energy routing between Solar, Grid, Demand, and Battery with a 24-hour playback scrubber.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A93D"/>
                </a:solidFill>
              </a:defRPr>
            </a:pPr>
            <a:r>
              <a:t>Interactive SVG Charting Suite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Multi-view data visualizations: Solar vs Available, Grid draw, Battery SoC curves, TOU tariff heatmaps, and hourly cost bars.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Live Directive Interpretation Preview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Instant badge feedback as operators type instructions, previewing normalized hour windows and affected constraint parameters.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9E9A"/>
                </a:solidFill>
              </a:defRPr>
            </a:pPr>
            <a:r>
              <a:t>Scenario Benchmarking &amp; JSON Export</a:t>
            </a:r>
          </a:p>
          <a:p>
            <a:pPr>
              <a:defRPr sz="1200">
                <a:solidFill>
                  <a:srgbClr val="EEF4F3"/>
                </a:solidFill>
              </a:defRPr>
            </a:pPr>
            <a:r>
              <a:t>Built-in preset loader with all 10 official BUP Hackathon cases, comparison manager, and one-click JSON export.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9E9A"/>
                </a:solidFill>
              </a:defRPr>
            </a:pPr>
            <a:r>
              <a:t>GRIDWISE — BUP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F4F3"/>
                </a:solidFill>
              </a:defRPr>
            </a:pPr>
            <a:r>
              <a:t>Verification, Testing &amp; Benchmark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100584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9E9A"/>
                </a:solidFill>
              </a:defRPr>
            </a:pPr>
            <a:r>
              <a:t>38 / 38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Automated Tests Passed (100%)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3474720" cy="100584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E5A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5A93D"/>
                </a:solidFill>
              </a:defRPr>
            </a:pPr>
            <a:r>
              <a:t>10 / 10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Official BUP Benchmark Cases Solved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474720" cy="100584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&lt; 50 ms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Average LP Optimization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3474720" cy="100584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9E9A"/>
                </a:solidFill>
              </a:defRPr>
            </a:pPr>
            <a:r>
              <a:t>0.01 kWh</a:t>
            </a:r>
          </a:p>
          <a:p>
            <a:pPr>
              <a:defRPr sz="1100">
                <a:solidFill>
                  <a:srgbClr val="EEF4F3"/>
                </a:solidFill>
              </a:defRPr>
            </a:pPr>
            <a:r>
              <a:t>Physical Replay Tolerance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645920"/>
            <a:ext cx="6858000" cy="443484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8288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9E9A"/>
                </a:solidFill>
              </a:defRPr>
            </a:pPr>
            <a:r>
              <a:t>Comprehensive Test Suite Coverage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• test_validation.py — Array lengths (exactly 24), non-negativity, battery bounds.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• test_directives.py — All 6 directive types, multiple directive composition, hour normalization.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• test_llm_guardrails.py — Prompt injection blocking, circuit breaker state transitions, JSON extraction.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• test_optimizer.py — LP optimality, battery neutrality, reserve floors, charge/discharge block windows.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• test_schedule_validator.py — Independent replay verification, deliberate corruption detection.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• test_security.py — Token bucket rate limiting, IP quarantine, JWT auth, RBAC roles.</a:t>
            </a:r>
          </a:p>
          <a:p>
            <a:pPr>
              <a:defRPr sz="1150">
                <a:solidFill>
                  <a:srgbClr val="EEF4F3"/>
                </a:solidFill>
              </a:defRPr>
            </a:pPr>
            <a:r>
              <a:t>• test_public_cases.py — End-to-end integration across high solar, multi-directive challenge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9E9A"/>
                </a:solidFill>
              </a:defRPr>
            </a:pPr>
            <a:r>
              <a:t>GRIDWISE — BUP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EF4F3"/>
                </a:solidFill>
              </a:defRPr>
            </a:pPr>
            <a:r>
              <a:t>Conclusion: Ready for Real-World Microgrids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222E35"/>
          </a:solidFill>
          <a:ln w="19050">
            <a:solidFill>
              <a:srgbClr val="149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5A93D"/>
                </a:solidFill>
              </a:defRPr>
            </a:pPr>
            <a:r>
              <a:t>Why GridWise Stands Out</a:t>
            </a:r>
          </a:p>
          <a:p>
            <a:pPr>
              <a:defRPr sz="1350">
                <a:solidFill>
                  <a:srgbClr val="EEF4F3"/>
                </a:solidFill>
              </a:defRPr>
            </a:pPr>
            <a:r>
              <a:t>✔  Deterministic Trust: Separates language reasoning from physical math. No hallucinations, guaranteed minimum-cost.</a:t>
            </a:r>
          </a:p>
          <a:p>
            <a:pPr>
              <a:defRPr sz="1350">
                <a:solidFill>
                  <a:srgbClr val="EEF4F3"/>
                </a:solidFill>
              </a:defRPr>
            </a:pPr>
            <a:r>
              <a:t>✔  Complete Web-Native Integration: Direct connection between modern frontend UI and FastAPI HiGHS optimization engine.</a:t>
            </a:r>
          </a:p>
          <a:p>
            <a:pPr>
              <a:defRPr sz="1350">
                <a:solidFill>
                  <a:srgbClr val="EEF4F3"/>
                </a:solidFill>
              </a:defRPr>
            </a:pPr>
            <a:r>
              <a:t>✔  Production-Grade Security: Cyber-breach detection, sliding-window rate limiting, token sanitization, and fail-closed safety.</a:t>
            </a:r>
          </a:p>
          <a:p>
            <a:pPr>
              <a:defRPr sz="1350">
                <a:solidFill>
                  <a:srgbClr val="EEF4F3"/>
                </a:solidFill>
              </a:defRPr>
            </a:pPr>
            <a:r>
              <a:t>✔  Deployment Ready: Fully containerized with Docker, lightweight footprint, and zero external binary dependencies.</a:t>
            </a:r>
          </a:p>
          <a:p>
            <a:pPr>
              <a:defRPr sz="1350">
                <a:solidFill>
                  <a:srgbClr val="EEF4F3"/>
                </a:solidFill>
              </a:defRPr>
            </a:pPr>
            <a:r>
              <a:t>✔  Scalability: Ready to scale from university campuses to industrial parks, hospital microgrids, and EV charging hubs.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1423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Md. Maksudur Rahman</cp:lastModifiedBy>
  <cp:revision>2</cp:revision>
  <dcterms:created xsi:type="dcterms:W3CDTF">2013-01-27T09:14:16Z</dcterms:created>
  <dcterms:modified xsi:type="dcterms:W3CDTF">2026-09-18T20:18:39Z</dcterms:modified>
  <cp:category/>
</cp:coreProperties>
</file>